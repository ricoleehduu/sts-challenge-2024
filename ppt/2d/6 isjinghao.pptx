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5" Type="http://schemas.openxmlformats.org/officeDocument/2006/relationships/tableStyles" Target="tableStyles.xml"/><Relationship Id="rId14" Type="http://schemas.openxmlformats.org/officeDocument/2006/relationships/presProps" Target="presProps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hyperlink" Target="https://github.com/isbrycee/SemiTNet" TargetMode="External"/><Relationship Id="rId2" Type="http://schemas.openxmlformats.org/officeDocument/2006/relationships/hyperlink" Target="https://huggingface.co/datasets/Bryceee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912932" y="2500986"/>
            <a:ext cx="8388350" cy="155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7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3600" b="1" kern="0" spc="-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SemiT-SAM: Building a Visual Foundation</a:t>
            </a:r>
            <a:endParaRPr sz="3600" dirty="0">
              <a:latin typeface="Times New Roman"/>
              <a:ea typeface="Times New Roman"/>
              <a:cs typeface="Times New Roman"/>
            </a:endParaRPr>
          </a:p>
          <a:p>
            <a:pPr marL="1815464" indent="-1777364" algn="l" rtl="0" eaLnBrk="0">
              <a:lnSpc>
                <a:spcPct val="89000"/>
              </a:lnSpc>
              <a:spcBef>
                <a:spcPts val="1024"/>
              </a:spcBef>
              <a:tabLst/>
            </a:pPr>
            <a:r>
              <a:rPr sz="3600" b="1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for Tooth Instance Se</a:t>
            </a:r>
            <a:r>
              <a:rPr sz="3600" b="1" kern="0" spc="-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gmentation on</a:t>
            </a:r>
            <a:r>
              <a:rPr sz="3600" b="1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6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Panoramic Radiog</a:t>
            </a:r>
            <a:r>
              <a:rPr sz="3600" b="1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raphs</a:t>
            </a:r>
            <a:endParaRPr sz="3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372829" y="4776273"/>
            <a:ext cx="7204709" cy="763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Leader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Jing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HAO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Mail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jinghao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connect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hku</a:t>
            </a:r>
            <a:r>
              <a:rPr sz="1500" b="1" kern="0" spc="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5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hk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3"/>
              </a:spcBef>
              <a:tabLst/>
            </a:pPr>
            <a:r>
              <a:rPr sz="1500" b="1" kern="0" spc="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1500" b="1" kern="0" spc="1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Members: Moyun Liu, Lei He, Lei Yao, James Kit Ho</a:t>
            </a:r>
            <a:r>
              <a:rPr sz="15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500" b="1" kern="0" spc="8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Tsoi, Kuo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Feng</a:t>
            </a:r>
            <a:r>
              <a:rPr sz="1500" b="1" kern="0" spc="7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Hung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0" y="0"/>
          <a:ext cx="12192000" cy="201294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12192000"/>
              </a:tblGrid>
              <a:tr h="191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05375" y="1167854"/>
            <a:ext cx="2381250" cy="531316"/>
          </a:xfrm>
          <a:prstGeom prst="rect">
            <a:avLst/>
          </a:prstGeom>
        </p:spPr>
      </p:pic>
      <p:sp>
        <p:nvSpPr>
          <p:cNvPr id="10" name="path 10"/>
          <p:cNvSpPr/>
          <p:nvPr/>
        </p:nvSpPr>
        <p:spPr>
          <a:xfrm>
            <a:off x="2138426" y="4221226"/>
            <a:ext cx="7928864" cy="6350"/>
          </a:xfrm>
          <a:custGeom>
            <a:avLst/>
            <a:gdLst/>
            <a:ahLst/>
            <a:cxnLst/>
            <a:rect l="0" t="0" r="0" b="0"/>
            <a:pathLst>
              <a:path w="12486" h="10">
                <a:moveTo>
                  <a:pt x="0" y="5"/>
                </a:moveTo>
                <a:lnTo>
                  <a:pt x="12486" y="5"/>
                </a:lnTo>
              </a:path>
            </a:pathLst>
          </a:custGeom>
          <a:noFill/>
          <a:ln w="6350" cap="flat">
            <a:solidFill>
              <a:srgbClr val="141414">
                <a:alpha val="34901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11923340" y="6524448"/>
            <a:ext cx="102235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300" kern="0" spc="-6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2319583" y="2526050"/>
            <a:ext cx="4648834" cy="2583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ct val="95000"/>
              </a:lnSpc>
              <a:tabLst/>
            </a:pPr>
            <a:r>
              <a:rPr sz="2700" b="1" kern="0" spc="1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r>
              <a:rPr sz="2700" b="1" kern="0" spc="1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700" b="1" kern="0" spc="1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SemiT</a:t>
            </a:r>
            <a:r>
              <a:rPr sz="2700" b="1" kern="0" spc="1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spcBef>
                <a:spcPts val="822"/>
              </a:spcBef>
              <a:tabLst/>
            </a:pPr>
            <a:r>
              <a:rPr sz="2700" b="1" kern="0" spc="1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</a:t>
            </a:r>
            <a:r>
              <a:rPr sz="2700" b="1" kern="0" spc="1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protocols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6"/>
              </a:spcBef>
              <a:tabLst/>
            </a:pPr>
            <a:r>
              <a:rPr sz="2700" b="1" kern="0" spc="1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sz="27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0" y="6665912"/>
          <a:ext cx="12192000" cy="19177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12192000"/>
              </a:tblGrid>
              <a:tr h="179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80618" y="635560"/>
            <a:ext cx="2520950" cy="445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5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3600" b="1" kern="0" spc="-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3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path 22"/>
          <p:cNvSpPr/>
          <p:nvPr/>
        </p:nvSpPr>
        <p:spPr>
          <a:xfrm>
            <a:off x="647700" y="1341437"/>
            <a:ext cx="10901044" cy="22225"/>
          </a:xfrm>
          <a:custGeom>
            <a:avLst/>
            <a:gdLst/>
            <a:ahLst/>
            <a:cxnLst/>
            <a:rect l="0" t="0" r="0" b="0"/>
            <a:pathLst>
              <a:path w="17166" h="35">
                <a:moveTo>
                  <a:pt x="0" y="17"/>
                </a:moveTo>
                <a:lnTo>
                  <a:pt x="17166" y="17"/>
                </a:lnTo>
              </a:path>
            </a:pathLst>
          </a:custGeom>
          <a:noFill/>
          <a:ln w="22225" cap="flat">
            <a:solidFill>
              <a:srgbClr val="14141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textbox 24"/>
          <p:cNvSpPr/>
          <p:nvPr/>
        </p:nvSpPr>
        <p:spPr>
          <a:xfrm>
            <a:off x="11904107" y="6524448"/>
            <a:ext cx="121920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/>
          <p:nvPr/>
        </p:nvSpPr>
        <p:spPr>
          <a:xfrm>
            <a:off x="3344557" y="2778331"/>
            <a:ext cx="5504179" cy="1510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7000"/>
              </a:lnSpc>
              <a:tabLst/>
            </a:pPr>
            <a:r>
              <a:rPr sz="4400" b="1" kern="0" spc="-50" dirty="0">
                <a:solidFill>
                  <a:srgbClr val="4F4F4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01.</a:t>
            </a:r>
            <a:endParaRPr sz="4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600" b="1" kern="0" spc="-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Introduction of SemiT-SAM</a:t>
            </a:r>
            <a:endParaRPr sz="3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30" name="path 30"/>
          <p:cNvSpPr/>
          <p:nvPr/>
        </p:nvSpPr>
        <p:spPr>
          <a:xfrm>
            <a:off x="2571813" y="2452751"/>
            <a:ext cx="28575" cy="1965324"/>
          </a:xfrm>
          <a:custGeom>
            <a:avLst/>
            <a:gdLst/>
            <a:ahLst/>
            <a:cxnLst/>
            <a:rect l="0" t="0" r="0" b="0"/>
            <a:pathLst>
              <a:path w="45" h="3094">
                <a:moveTo>
                  <a:pt x="22" y="0"/>
                </a:moveTo>
                <a:lnTo>
                  <a:pt x="22" y="3094"/>
                </a:lnTo>
              </a:path>
            </a:pathLst>
          </a:custGeom>
          <a:noFill/>
          <a:ln w="28575" cap="flat">
            <a:solidFill>
              <a:srgbClr val="141414">
                <a:alpha val="67058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11908114" y="6524448"/>
            <a:ext cx="11747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2286000"/>
            <a:ext cx="10896600" cy="397192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706701" y="1330764"/>
            <a:ext cx="7463790" cy="791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ViT-Tiny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deriv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MobileSAM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0000"/>
              </a:lnSpc>
              <a:spcBef>
                <a:spcPts val="887"/>
              </a:spcBef>
              <a:tabLst/>
            </a:pP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Generating multi-scales features by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simple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pyramid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module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(from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ViTDet)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Initializing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query in the decoder using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query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nitialization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unit.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34758" y="586224"/>
            <a:ext cx="297433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27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Archit</a:t>
            </a:r>
            <a:r>
              <a:rPr sz="2700" b="1" kern="0" spc="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ecture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4"/>
          <p:cNvSpPr/>
          <p:nvPr/>
        </p:nvSpPr>
        <p:spPr>
          <a:xfrm>
            <a:off x="11903105" y="6524448"/>
            <a:ext cx="12255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1550" y="2809875"/>
            <a:ext cx="10020300" cy="3800475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701705" y="1330964"/>
            <a:ext cx="10316844" cy="1382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0000"/>
              </a:lnSpc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1500" b="1" kern="0" spc="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Teacher pre-training: The teacher model, parameterized by θt,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exclusivel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trained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annotated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80000"/>
              </a:lnSpc>
              <a:spcBef>
                <a:spcPts val="887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1500" b="1" kern="0" spc="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Enhanced burn-in process: The student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model,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parameterized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θs,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labeled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unlabeled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358140" algn="l" rtl="0" eaLnBrk="0">
              <a:lnSpc>
                <a:spcPct val="80000"/>
              </a:lnSpc>
              <a:spcBef>
                <a:spcPts val="815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using pseudo-labels generated by the teacher model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first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pre-training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stage.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teacher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frozen.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0000"/>
              </a:lnSpc>
              <a:spcBef>
                <a:spcPts val="892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2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student</a:t>
            </a:r>
            <a:r>
              <a:rPr sz="1500" b="1" kern="0" spc="1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continues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500" b="1" kern="0" spc="1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trained</a:t>
            </a:r>
            <a:r>
              <a:rPr sz="1500" b="1" kern="0" spc="1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500" b="1" kern="0" spc="1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</a:t>
            </a:r>
            <a:r>
              <a:rPr sz="1500" b="1" kern="0" spc="1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labeled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500" b="1" kern="0" spc="1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unlabeled</a:t>
            </a:r>
            <a:r>
              <a:rPr sz="1500" b="1" kern="0" spc="2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ata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500" b="1" kern="0" spc="1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before.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2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teacher</a:t>
            </a:r>
            <a:r>
              <a:rPr sz="1500" b="1" kern="0" spc="2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500" b="1" kern="0" spc="1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500" b="1" kern="0" spc="2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updated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58140" algn="l" rtl="0" eaLnBrk="0">
              <a:lnSpc>
                <a:spcPct val="80000"/>
              </a:lnSpc>
              <a:spcBef>
                <a:spcPts val="2"/>
              </a:spcBef>
              <a:tabLst/>
            </a:pP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using an exponential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moving average (EMA)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500" b="1" kern="0" spc="-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student’s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weights.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46056" y="586224"/>
            <a:ext cx="3962400" cy="349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7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Semi-Supervised Training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6"/>
          <p:cNvSpPr/>
          <p:nvPr/>
        </p:nvSpPr>
        <p:spPr>
          <a:xfrm>
            <a:off x="11909516" y="6527253"/>
            <a:ext cx="116204" cy="203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/>
          <p:cNvSpPr/>
          <p:nvPr/>
        </p:nvSpPr>
        <p:spPr>
          <a:xfrm>
            <a:off x="700303" y="4493495"/>
            <a:ext cx="10312400" cy="2070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tabLst/>
            </a:pPr>
            <a:r>
              <a:rPr sz="2700" b="1" kern="0" spc="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Datasets for Building the Foundation</a:t>
            </a:r>
            <a:r>
              <a:rPr sz="2700" b="1" kern="0" spc="20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17000"/>
              </a:lnSpc>
              <a:spcBef>
                <a:spcPts val="451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 carefully  collected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large-scale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dataset,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TSI15k,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several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open-sourc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datasets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 training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teeth</a:t>
            </a:r>
            <a:r>
              <a:rPr sz="1500" b="1" kern="0" spc="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segmentation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foundation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model. The dataset is available at</a:t>
            </a:r>
            <a:r>
              <a:rPr sz="1500" b="1" u="sng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500" b="1" u="sng" kern="0" spc="100" dirty="0">
                <a:solidFill>
                  <a:srgbClr val="40404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u="sng" kern="0" spc="40" dirty="0">
                <a:solidFill>
                  <a:srgbClr val="00B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B0F0"/>
                      <wpsdc:folHlinkClr xmlns:wpsdc="http://www.wps.cn/officeDocument/2017/drawingmlCustomData" val="00B0F0"/>
                      <wpsdc:hlinkUnderline xmlns:wpsdc="http://www.wps.cn/officeDocument/2017/drawingmlCustomData" val="0"/>
                    </a:ext>
                  </a:extLst>
                </a:hlinkClick>
              </a:rPr>
              <a:t>https://huggingface.co/datasets/Bryceee/</a:t>
            </a:r>
            <a:r>
              <a:rPr sz="1500" b="1" u="sng" kern="0" spc="60" dirty="0">
                <a:solidFill>
                  <a:srgbClr val="00B0F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u="sng" kern="0" spc="40" dirty="0">
                <a:solidFill>
                  <a:srgbClr val="00B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TISI15k-Dataset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115000"/>
              </a:lnSpc>
              <a:spcBef>
                <a:spcPts val="3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code and</a:t>
            </a:r>
            <a:r>
              <a:rPr sz="1500" b="1" kern="0" spc="2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checkpoints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500" b="1" kern="0" spc="-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teeth foundation model are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available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at: </a:t>
            </a:r>
            <a:r>
              <a:rPr sz="1500" b="1" u="sng" kern="0" spc="40" dirty="0">
                <a:solidFill>
                  <a:srgbClr val="00B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B0F0"/>
                      <wpsdc:folHlinkClr xmlns:wpsdc="http://www.wps.cn/officeDocument/2017/drawingmlCustomData" val="00B0F0"/>
                      <wpsdc:hlinkUnderline xmlns:wpsdc="http://www.wps.cn/officeDocument/2017/drawingmlCustomData" val="0"/>
                    </a:ext>
                  </a:extLst>
                </a:hlinkClick>
              </a:rPr>
              <a:t>https://github.com/isbrycee/SemiTNet</a:t>
            </a:r>
            <a:r>
              <a:rPr sz="1500" b="1" kern="0" spc="170" dirty="0">
                <a:solidFill>
                  <a:srgbClr val="00B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(accessed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4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August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2024)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3900" y="3133725"/>
            <a:ext cx="10820400" cy="59055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01104" y="1311914"/>
            <a:ext cx="10126344" cy="455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94000"/>
              </a:lnSpc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During the training phase, the total loss consists of</a:t>
            </a:r>
            <a:r>
              <a:rPr sz="1500" b="1" kern="0" spc="-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supervised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500" b="1" kern="0" spc="1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unsupervis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losses,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which</a:t>
            </a:r>
            <a:r>
              <a:rPr sz="1500" b="1" kern="0" spc="1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loss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function, defined</a:t>
            </a:r>
            <a:r>
              <a:rPr sz="1500" b="1" kern="0" spc="1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follows: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702707" y="2526923"/>
            <a:ext cx="10022205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92000"/>
              </a:lnSpc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unsupervised loss weight λ</a:t>
            </a:r>
            <a:r>
              <a:rPr sz="1600" b="1" kern="0" spc="40" baseline="-16277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unsu</a:t>
            </a:r>
            <a:r>
              <a:rPr sz="1600" b="1" kern="0" spc="30" baseline="-16277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0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 2 in our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experiments.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loss function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structured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weighted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500" b="1" kern="0" spc="-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five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loss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compone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nts: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14725" y="1657350"/>
            <a:ext cx="5162550" cy="78105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634405" y="585871"/>
            <a:ext cx="2166620" cy="347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2700" b="1" kern="0" spc="4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Loss Function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0" y="43990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76" name="textbox 76"/>
          <p:cNvSpPr/>
          <p:nvPr/>
        </p:nvSpPr>
        <p:spPr>
          <a:xfrm>
            <a:off x="11908514" y="6524448"/>
            <a:ext cx="11747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3351883" y="2778331"/>
            <a:ext cx="3615054" cy="141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7000"/>
              </a:lnSpc>
              <a:tabLst/>
            </a:pPr>
            <a:r>
              <a:rPr sz="4400" b="1" kern="0" spc="-50" dirty="0">
                <a:solidFill>
                  <a:srgbClr val="4F4F4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02.</a:t>
            </a:r>
            <a:endParaRPr sz="4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3600" b="1" kern="0" spc="-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 </a:t>
            </a:r>
            <a:r>
              <a:rPr sz="3600" b="1" kern="0" spc="-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protocols</a:t>
            </a:r>
            <a:endParaRPr sz="3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82" name="path 82"/>
          <p:cNvSpPr/>
          <p:nvPr/>
        </p:nvSpPr>
        <p:spPr>
          <a:xfrm>
            <a:off x="2571813" y="2452751"/>
            <a:ext cx="28575" cy="1965324"/>
          </a:xfrm>
          <a:custGeom>
            <a:avLst/>
            <a:gdLst/>
            <a:ahLst/>
            <a:cxnLst/>
            <a:rect l="0" t="0" r="0" b="0"/>
            <a:pathLst>
              <a:path w="45" h="3094">
                <a:moveTo>
                  <a:pt x="22" y="0"/>
                </a:moveTo>
                <a:lnTo>
                  <a:pt x="22" y="3094"/>
                </a:lnTo>
              </a:path>
            </a:pathLst>
          </a:custGeom>
          <a:noFill/>
          <a:ln w="28575" cap="flat">
            <a:solidFill>
              <a:srgbClr val="141414">
                <a:alpha val="67058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11907312" y="6527253"/>
            <a:ext cx="118745" cy="203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52625" y="2828925"/>
            <a:ext cx="8286750" cy="3752850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703308" y="1311914"/>
            <a:ext cx="10518140" cy="1430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0000"/>
              </a:lnSpc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Fine-tuning our teeth segmentation foundation model using the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provided 30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labeled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challenge.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indent="635" algn="l" rtl="0" eaLnBrk="0">
              <a:lnSpc>
                <a:spcPct val="92000"/>
              </a:lnSpc>
              <a:spcBef>
                <a:spcPts val="451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step was necessary to align the category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space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because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had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riginally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defined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32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classes in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teeth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segmentation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foundation model, whereas this chall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defined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52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classes.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The unlabeled data were used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semi-supervised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training.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640407" y="586224"/>
            <a:ext cx="2814320" cy="349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700" b="1" kern="0" spc="2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 protocols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96" name="textbox 96"/>
          <p:cNvSpPr/>
          <p:nvPr/>
        </p:nvSpPr>
        <p:spPr>
          <a:xfrm>
            <a:off x="11912120" y="6524448"/>
            <a:ext cx="11366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8"/>
          <p:cNvSpPr/>
          <p:nvPr/>
        </p:nvSpPr>
        <p:spPr>
          <a:xfrm>
            <a:off x="3344099" y="2778331"/>
            <a:ext cx="1443355" cy="141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6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77000"/>
              </a:lnSpc>
              <a:tabLst/>
            </a:pPr>
            <a:r>
              <a:rPr sz="4400" b="1" kern="0" spc="-50" dirty="0">
                <a:solidFill>
                  <a:srgbClr val="4F4F4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03.</a:t>
            </a:r>
            <a:endParaRPr sz="4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3"/>
              </a:spcBef>
              <a:tabLst/>
            </a:pPr>
            <a:r>
              <a:rPr sz="3600" b="1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3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102" name="path 102"/>
          <p:cNvSpPr/>
          <p:nvPr/>
        </p:nvSpPr>
        <p:spPr>
          <a:xfrm>
            <a:off x="2571813" y="2452751"/>
            <a:ext cx="28575" cy="1965324"/>
          </a:xfrm>
          <a:custGeom>
            <a:avLst/>
            <a:gdLst/>
            <a:ahLst/>
            <a:cxnLst/>
            <a:rect l="0" t="0" r="0" b="0"/>
            <a:pathLst>
              <a:path w="45" h="3094">
                <a:moveTo>
                  <a:pt x="22" y="0"/>
                </a:moveTo>
                <a:lnTo>
                  <a:pt x="22" y="3094"/>
                </a:lnTo>
              </a:path>
            </a:pathLst>
          </a:custGeom>
          <a:noFill/>
          <a:ln w="28575" cap="flat">
            <a:solidFill>
              <a:srgbClr val="141414">
                <a:alpha val="67058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11907913" y="6524448"/>
            <a:ext cx="118110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6"/>
          <p:cNvSpPr/>
          <p:nvPr/>
        </p:nvSpPr>
        <p:spPr>
          <a:xfrm>
            <a:off x="746140" y="1373142"/>
            <a:ext cx="10248900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 the help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unlabeled data and semi-supervised training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strategy,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could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further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improved.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92000"/>
              </a:lnSpc>
              <a:spcBef>
                <a:spcPts val="452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500" b="1" kern="0" spc="1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metrics, with the exception of the instance-level Dice, have shown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improvement,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 is,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enhancements</a:t>
            </a:r>
            <a:r>
              <a:rPr sz="1500" b="1" kern="0" spc="1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resulted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increases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1.01% (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image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Dice</a:t>
            </a:r>
            <a:r>
              <a:rPr sz="1500" b="1" kern="0" spc="1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 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1.28% (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image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IoU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1.12%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image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NSD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 0.86% (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instance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82000"/>
              </a:lnSpc>
              <a:spcBef>
                <a:spcPts val="501"/>
              </a:spcBef>
              <a:tabLst/>
            </a:pP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IoU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500" b="1" kern="0" spc="1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1.10%</a:t>
            </a:r>
            <a:r>
              <a:rPr sz="1500" b="1" kern="0" spc="1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instance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NSD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2.20% 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IA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believe that since the teeth segmentation</a:t>
            </a:r>
            <a:r>
              <a:rPr sz="1500" b="1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foundation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500" b="1" kern="0" spc="8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already provides</a:t>
            </a:r>
            <a:r>
              <a:rPr sz="1500" b="1" kern="0" spc="1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stro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ng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baseline</a:t>
            </a:r>
            <a:r>
              <a:rPr sz="1500" b="1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tooth</a:t>
            </a:r>
            <a:r>
              <a:rPr sz="1500" b="1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instance</a:t>
            </a:r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segmentation</a:t>
            </a:r>
            <a:r>
              <a:rPr sz="1500" b="1" kern="0" spc="1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capabilities, the improvement brought by unlabeled data</a:t>
            </a:r>
            <a:r>
              <a:rPr sz="1500" b="1" kern="0" spc="7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500" b="1" kern="0" spc="9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limited.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7275" y="3762375"/>
            <a:ext cx="10077450" cy="1819275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634405" y="591520"/>
            <a:ext cx="1128394" cy="341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7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116"/>
          <p:cNvSpPr/>
          <p:nvPr/>
        </p:nvSpPr>
        <p:spPr>
          <a:xfrm>
            <a:off x="11872540" y="6524448"/>
            <a:ext cx="20700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575" y="1914525"/>
            <a:ext cx="6276975" cy="405765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81775" y="1924050"/>
            <a:ext cx="5610225" cy="4048125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2290436" y="1360310"/>
            <a:ext cx="7974330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400" b="1" kern="0" spc="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Successful cases      </a:t>
            </a:r>
            <a:r>
              <a:rPr sz="2400" b="1" kern="0" spc="-1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Failure cases</a:t>
            </a:r>
            <a:endParaRPr sz="2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77400" y="561455"/>
            <a:ext cx="2038350" cy="467764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634405" y="591520"/>
            <a:ext cx="1128394" cy="341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700" b="1" kern="0" spc="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27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0" y="436626"/>
          <a:ext cx="382270" cy="488950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38227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11876350" y="6524448"/>
            <a:ext cx="19748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5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132"/>
          <p:cNvGraphicFramePr>
            <a:graphicFrameLocks noGrp="1"/>
          </p:cNvGraphicFramePr>
          <p:nvPr/>
        </p:nvGraphicFramePr>
        <p:xfrm>
          <a:off x="0" y="0"/>
          <a:ext cx="12192000" cy="201294"/>
        </p:xfrm>
        <a:graphic>
          <a:graphicData uri="http://schemas.openxmlformats.org/drawingml/2006/table">
            <a:tbl>
              <a:tblPr>
                <a:solidFill>
                  <a:srgbClr val="141414"/>
                </a:solidFill>
              </a:tblPr>
              <a:tblGrid>
                <a:gridCol w="12192000"/>
              </a:tblGrid>
              <a:tr h="191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134"/>
          <p:cNvSpPr/>
          <p:nvPr/>
        </p:nvSpPr>
        <p:spPr>
          <a:xfrm>
            <a:off x="4514368" y="2716748"/>
            <a:ext cx="3186429" cy="763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6000" b="1" kern="0" spc="-30" dirty="0">
                <a:solidFill>
                  <a:srgbClr val="14141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THANKS</a:t>
            </a:r>
            <a:endParaRPr sz="6000" dirty="0">
              <a:latin typeface="Arial"/>
              <a:ea typeface="Arial"/>
              <a:cs typeface="Arial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05375" y="1167854"/>
            <a:ext cx="2381250" cy="531316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5513383" y="4580125"/>
            <a:ext cx="1183639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000" b="1" kern="0" spc="-20" dirty="0">
                <a:solidFill>
                  <a:srgbClr val="141414">
                    <a:alpha val="100000"/>
                  </a:srgbClr>
                </a:solidFill>
                <a:latin typeface="Arial"/>
                <a:ea typeface="Arial"/>
                <a:cs typeface="Arial"/>
              </a:rPr>
              <a:t>Jing</a:t>
            </a:r>
            <a:r>
              <a:rPr sz="2000" b="1" kern="0" spc="120" dirty="0">
                <a:solidFill>
                  <a:srgbClr val="14141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20" dirty="0">
                <a:solidFill>
                  <a:srgbClr val="141414">
                    <a:alpha val="100000"/>
                  </a:srgbClr>
                </a:solidFill>
                <a:latin typeface="Arial"/>
                <a:ea typeface="Arial"/>
                <a:cs typeface="Arial"/>
              </a:rPr>
              <a:t>HAO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40" name="path 140"/>
          <p:cNvSpPr/>
          <p:nvPr/>
        </p:nvSpPr>
        <p:spPr>
          <a:xfrm>
            <a:off x="2147951" y="3821176"/>
            <a:ext cx="8362568" cy="6350"/>
          </a:xfrm>
          <a:custGeom>
            <a:avLst/>
            <a:gdLst/>
            <a:ahLst/>
            <a:cxnLst/>
            <a:rect l="0" t="0" r="0" b="0"/>
            <a:pathLst>
              <a:path w="13169" h="10">
                <a:moveTo>
                  <a:pt x="0" y="5"/>
                </a:moveTo>
                <a:lnTo>
                  <a:pt x="13169" y="5"/>
                </a:lnTo>
              </a:path>
            </a:pathLst>
          </a:custGeom>
          <a:noFill/>
          <a:ln w="6350" cap="flat">
            <a:solidFill>
              <a:srgbClr val="141414">
                <a:alpha val="34901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textbox 142"/>
          <p:cNvSpPr/>
          <p:nvPr/>
        </p:nvSpPr>
        <p:spPr>
          <a:xfrm>
            <a:off x="11872540" y="6524448"/>
            <a:ext cx="20700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30" dirty="0">
                <a:solidFill>
                  <a:srgbClr val="14141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2024-10-18T02:55:06Z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2024-10-23T21:20:15</vt:filetime>
  </property>
</Properties>
</file>